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82F2CB"/>
                </a:solidFill>
                <a:latin typeface="Aptos"/>
              </a:rPr>
              <a:t>GROWTH CHALLENGE  /  48-HOUR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400" b="1">
                <a:solidFill>
                  <a:srgbClr val="F5F7FF"/>
                </a:solidFill>
                <a:latin typeface="Aptos"/>
              </a:rPr>
              <a:t>Make the first AI project
feel possible.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98755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0">
                <a:solidFill>
                  <a:srgbClr val="B0B9D2"/>
                </a:solidFill>
                <a:latin typeface="Aptos"/>
              </a:rPr>
              <a:t>SPARK: a project-preview-led acquisition loop for
“Build Your First AI Project in 60 Minutes.”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4069080"/>
            <a:ext cx="3383280" cy="132588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23367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A89BFF"/>
                </a:solidFill>
                <a:latin typeface="Aptos"/>
              </a:rPr>
              <a:t>500 registrations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636008"/>
            <a:ext cx="3017520" cy="6126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7-day planning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4069080"/>
            <a:ext cx="3383280" cy="132588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423367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82F2CB"/>
                </a:solidFill>
                <a:latin typeface="Aptos"/>
              </a:rPr>
              <a:t>₹2,000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4636008"/>
            <a:ext cx="3017520" cy="6126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Prioritise low-cost, attributable channels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8431" y="4069080"/>
            <a:ext cx="3383280" cy="132588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1" y="423367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FFD887"/>
                </a:solidFill>
                <a:latin typeface="Aptos"/>
              </a:rPr>
              <a:t>Build → 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1" y="4636008"/>
            <a:ext cx="3017520" cy="6126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Interactive prototype + experiment 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0">
                <a:solidFill>
                  <a:srgbClr val="B0B9D2"/>
                </a:solidFill>
                <a:latin typeface="Aptos"/>
              </a:rPr>
              <a:t>All targets are hypotheses. No real campaign or registrations are claimed.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82F2CB"/>
                </a:solidFill>
                <a:latin typeface="Aptos"/>
              </a:rPr>
              <a:t>SPARK GROWTH LAB     /     02     STUDENT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800" b="1">
                <a:solidFill>
                  <a:srgbClr val="F5F7FF"/>
                </a:solidFill>
                <a:latin typeface="Aptos"/>
              </a:rPr>
              <a:t>Start with uncertainty, not another poster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B0B9D2"/>
                </a:solidFill>
                <a:latin typeface="Aptos"/>
              </a:rPr>
              <a:t>Audience hypothesis to validate: final-year engineering students interested in AI but unsure what to build or whether they can start.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3520440" cy="205740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2199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A89BFF"/>
                </a:solidFill>
                <a:latin typeface="Aptos"/>
              </a:rPr>
              <a:t>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24328"/>
            <a:ext cx="3154680" cy="1344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“I want to try AI, but I don't know what to build.”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057400"/>
            <a:ext cx="3520440" cy="205740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22199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82F2CB"/>
                </a:solidFill>
                <a:latin typeface="Aptos"/>
              </a:rPr>
              <a:t>INTERVENTION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24328"/>
            <a:ext cx="3154680" cy="1344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An interactive project matchmaker gives a tangible, beginner-scoped preview before the registration ask.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057400"/>
            <a:ext cx="3520440" cy="205740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22199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FFD887"/>
                </a:solidFill>
                <a:latin typeface="Aptos"/>
              </a:rPr>
              <a:t>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24328"/>
            <a:ext cx="3154680" cy="1344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Project preview → tagged source link → registration → permitted reminder.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1088136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Validation plan: test two messages with comparable audiences; track visits and registrations by source. Do not treat the student insight or conversion rates as proven without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82F2CB"/>
                </a:solidFill>
                <a:latin typeface="Aptos"/>
              </a:rPr>
              <a:t>SPARK GROWTH LAB     /     03     CHANNEL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800" b="1">
                <a:solidFill>
                  <a:srgbClr val="F5F7FF"/>
                </a:solidFill>
                <a:latin typeface="Aptos"/>
              </a:rPr>
              <a:t>Three channels. One measurable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B0B9D2"/>
                </a:solidFill>
                <a:latin typeface="Aptos"/>
              </a:rPr>
              <a:t>Prioritised to fit the 7-day sprint and ₹2,000 budget.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3520440" cy="192024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3055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A89BFF"/>
                </a:solidFill>
                <a:latin typeface="Aptos"/>
              </a:rPr>
              <a:t>01  CAMPUS AMBASSADORS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32888"/>
            <a:ext cx="3154680" cy="12070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200 target registrations
Unique tagged links + short demo-first message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965960"/>
            <a:ext cx="3520440" cy="192024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3055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82F2CB"/>
                </a:solidFill>
                <a:latin typeface="Aptos"/>
              </a:rPr>
              <a:t>02  CLUBS / CLASS REPS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32888"/>
            <a:ext cx="3154680" cy="12070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150 target registrations
Ready-to-forward copy + project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965960"/>
            <a:ext cx="3520440" cy="192024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3055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FFD887"/>
                </a:solidFill>
                <a:latin typeface="Aptos"/>
              </a:rPr>
              <a:t>03  PEER / 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32888"/>
            <a:ext cx="3154680" cy="12070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150 target registrations
Permission-based sharing + one reminder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52120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1">
                <a:solidFill>
                  <a:srgbClr val="82F2CB"/>
                </a:solidFill>
                <a:latin typeface="Aptos"/>
              </a:rPr>
              <a:t>Illustrative funnel hypothesis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53035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F5F7FF"/>
                </a:solidFill>
                <a:latin typeface="Aptos"/>
              </a:rPr>
              <a:t>8,000 relevant reach → 800 visits → 500 registrations
10% reach-to-visit; 62.5% visit-to-registration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47548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600" b="1">
                <a:solidFill>
                  <a:srgbClr val="82F2CB"/>
                </a:solidFill>
                <a:latin typeface="Aptos"/>
              </a:rPr>
              <a:t>Budget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00600"/>
            <a:ext cx="493776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F5F7FF"/>
                </a:solidFill>
                <a:latin typeface="Aptos"/>
              </a:rPr>
              <a:t>₹800 campus activation · ₹500 creative contingency
₹500 optional test · ₹200 buffer = ₹2,000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82F2CB"/>
                </a:solidFill>
                <a:latin typeface="Aptos"/>
              </a:rPr>
              <a:t>SPARK GROWTH LAB     /     04     EXPERIMENT +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800" b="1">
                <a:solidFill>
                  <a:srgbClr val="F5F7FF"/>
                </a:solidFill>
                <a:latin typeface="Aptos"/>
              </a:rPr>
              <a:t>Build the feedback loop into the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B0B9D2"/>
                </a:solidFill>
                <a:latin typeface="Aptos"/>
              </a:rPr>
              <a:t>Working prototype: Project Matchmaker · UTM Link Builder · A/B Experiment · Funnel Tracker · 7-Day Playbook.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5303520" cy="214884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30552"/>
            <a:ext cx="493775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A89BFF"/>
                </a:solidFill>
                <a:latin typeface="Aptos"/>
              </a:rPr>
              <a:t>A  /  OUTCOME-LED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32888"/>
            <a:ext cx="4937759" cy="1435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“Build your first AI project in 60 minutes.”
B  /  PROJECT-PREVIEW LED
“Choose an idea. Preview it. Build your first AI project in 60 minutes.”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65960"/>
            <a:ext cx="5303520" cy="214884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30552"/>
            <a:ext cx="4937759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82F2CB"/>
                </a:solidFill>
                <a:latin typeface="Aptos"/>
              </a:rPr>
              <a:t>MEASURE &amp;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532888"/>
            <a:ext cx="4937759" cy="1435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Primary: registrations / unique visits, segmented by source.
Guardrails: complaints, irrelevant traffic, attendance quality.
Many visits / few registrations → inspect page and form friction.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7899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Decision rule: compare only reasonably balanced samples; do not declare a winner from tiny samples. If evidence is inconclusive, keep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601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82F2CB"/>
                </a:solidFill>
                <a:latin typeface="Aptos"/>
              </a:rPr>
              <a:t>SPARK GROWTH LAB     /     05     OWNERSHIP +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800" b="1">
                <a:solidFill>
                  <a:srgbClr val="F5F7FF"/>
                </a:solidFill>
                <a:latin typeface="Aptos"/>
              </a:rPr>
              <a:t>Ship honestly. Learn quickly. Scale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00" b="0">
                <a:solidFill>
                  <a:srgbClr val="B0B9D2"/>
                </a:solidFill>
                <a:latin typeface="Aptos"/>
              </a:rPr>
              <a:t>Designed to match the role’s loop: Idea → Build → Launch → Measure → Learn →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3520440" cy="210312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3055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A89BFF"/>
                </a:solidFill>
                <a:latin typeface="Aptos"/>
              </a:rPr>
              <a:t>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32888"/>
            <a:ext cx="3154680" cy="13898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From a generic workshop promotion to a project-preview experience linked to measurable source attribution.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965960"/>
            <a:ext cx="3520440" cy="210312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3055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82F2CB"/>
                </a:solidFill>
                <a:latin typeface="Aptos"/>
              </a:rPr>
              <a:t>WHAT IS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32888"/>
            <a:ext cx="3154680" cy="13898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Interactive front-end prototype, deterministic project matching, local event ledger, descriptive A/B comparison, CSV export.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965960"/>
            <a:ext cx="3520440" cy="2103120"/>
          </a:xfrm>
          <a:prstGeom prst="rect">
            <a:avLst/>
          </a:prstGeom>
          <a:solidFill>
            <a:srgbClr val="1A1F34"/>
          </a:solidFill>
          <a:ln>
            <a:solidFill>
              <a:srgbClr val="2F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3055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1">
                <a:solidFill>
                  <a:srgbClr val="FFD887"/>
                </a:solidFill>
                <a:latin typeface="Aptos"/>
              </a:rPr>
              <a:t>WHAT IS NOT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32888"/>
            <a:ext cx="3154680" cy="13898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0">
                <a:solidFill>
                  <a:srgbClr val="F5F7FF"/>
                </a:solidFill>
                <a:latin typeface="Aptos"/>
              </a:rPr>
              <a:t>No live registration integration, no shared database, no LLM API, no campaign results claimed.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500" b="0">
                <a:solidFill>
                  <a:srgbClr val="F5F7FF"/>
                </a:solidFill>
                <a:latin typeface="Aptos"/>
              </a:rPr>
              <a:t>Next 24 hours: connect an approved form/analytics source, validate the hypothesis with real students, and add attendance as a quality metric.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881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0">
                <a:solidFill>
                  <a:srgbClr val="B0B9D2"/>
                </a:solidFill>
                <a:latin typeface="Aptos"/>
              </a:rPr>
              <a:t>Submission links must be tested by the candidate before claiming they are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